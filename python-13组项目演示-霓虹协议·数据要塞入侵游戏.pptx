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开场：这是一款完全用 Python 写的 3D 射击游戏，没有用任何游戏引擎，也没有任何外部美术素材 —— 画面里的纹理、敌人、音效全部是代码生成的。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关键词：纯 Python、无引擎、程序化生成。整体目标是做一个'看起来像正经游戏'的学生项目，把计算机图形学、算法和工程组织全串起来。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核心循环就是标准的 roguelite 波次结构：打一波 → 拿强化 → 更难的一波。胜利条件=清空8波，失败=血量归零。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操作是标准 FPS 键位 + 一个冲刺。冲刺带无敌帧，是这个游戏的战斗核心 —— 既能躲子弹，也能当位移技能用。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三把枪定位完全不同：冲锋枪是稳定输出，磁轨枪一发62伤害还能穿3个，霰弹7颗弹丸贴脸秒杀。它们共用能量池，所以换枪也是一种资源管理。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四类敌人：远程哨兵、更快的近战潜行者、瞬移幻影、168血的重装守望者。设计要点是速度必须相对玩家标定，不然敌人要么追不上你、要么变成送分。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掉落系统：碎片最多(42%)用来计分，能量、修复、护盾各有掉落概率。所有掉落都会在雷达和全屏地图上显示颜色点。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地图是程序化生成的：先撒房间，再用走廊连成一棵树，再补环路保证有退路，最后用噪声给墙面分区上色。8 种墙面材质让不同区域一眼可辨。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信息层：右上角雷达制造紧张感（红点逼近），战争迷雾鼓励探索，Tab 键随时看全图。三分之二的战斗决策依赖这套界面。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难度曲线：第1波4个敌人，每波+2.3个；血量每波+16%、伤害+7.5%。敌人种类从第1波的哨兵逐步解锁到第7波四种全出。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升级系统是 roguelite 的灵魂：10 张卡覆盖伤害、生存、机动、暴击四条线。每次三选一，逼玩家做取舍。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视觉的核心不是'堆特效'，而是双层分辨率带来的像素感，加上扫描线/暗角/故障撕裂这些后处理，让低分辨率 3D 看起来有设计感。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HUD 是信息密度的体现：准心、三条状态、武器面板、冲刺环、波次栏、受击方向、伤害数字、敌人血条、性能信息。UI 画在输出分辨率上所以很锐利。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收尾：10 个模块分工明确，从配置、地图、实体、渲染、界面到主循环。这个项目最大的收获是 —— 把课堂上的算法真的用在一个能跑起来、能玩的东西里。谢谢，欢迎提问。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55600"/>
            <a:ext cx="320040" cy="2032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7040" y="365760"/>
            <a:ext cx="20320" cy="32004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11712" y="355600"/>
            <a:ext cx="320040" cy="2032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21592" y="365760"/>
            <a:ext cx="20320" cy="32004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82080"/>
            <a:ext cx="320040" cy="2032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7040" y="6172200"/>
            <a:ext cx="20320" cy="32004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11712" y="6482080"/>
            <a:ext cx="320040" cy="2032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21592" y="6172200"/>
            <a:ext cx="20320" cy="32004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8580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PROJECT  PRESENTATION   //   面向老师与同学的技术分享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0360152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48F0FF"/>
                </a:solidFill>
                <a:effectLst>
                  <a:glow rad="127000">
                    <a:srgbClr val="1E96B9">
                      <a:alpha val="550"/>
                    </a:srgbClr>
                  </a:glow>
                </a:effectLst>
                <a:latin typeface="Consolas"/>
                <a:ea typeface="微软雅黑"/>
                <a:cs typeface="微软雅黑"/>
              </a:rPr>
              <a:t>NEON 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10360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4EC8"/>
                </a:solidFill>
                <a:effectLst>
                  <a:glow rad="101600">
                    <a:srgbClr val="FF4EC8">
                      <a:alpha val="550"/>
                    </a:srgbClr>
                  </a:glow>
                </a:effectLst>
                <a:latin typeface="Microsoft YaHei"/>
                <a:ea typeface="微软雅黑"/>
                <a:cs typeface="微软雅黑"/>
              </a:rPr>
              <a:t>霓虹协议 · 数据要塞入侵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58768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A  RAYCASTING  CYBER-INTRUSION  FPS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84648" y="4343400"/>
            <a:ext cx="1828800" cy="2032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A8FF60"/>
                </a:solidFill>
                <a:latin typeface="Consolas"/>
                <a:ea typeface="微软雅黑"/>
                <a:cs typeface="微软雅黑"/>
              </a:rPr>
              <a:t>Python 3.13   ·   pygame 2.6   ·   NumPy       零游戏引擎  ·  零美术素材  ·  全部由代码生成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一个从零实现的伪 3D 第一人称射击游戏     ·     共 5,945 行 Python 代码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2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NEON PROTOCOL  // 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10896"/>
            <a:ext cx="1783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02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8FF"/>
                </a:solidFill>
                <a:effectLst>
                  <a:glow rad="76200">
                    <a:srgbClr val="147896">
                      <a:alpha val="550"/>
                    </a:srgbClr>
                  </a:glow>
                </a:effectLst>
                <a:latin typeface="Microsoft YaHei"/>
                <a:ea typeface="微软雅黑"/>
                <a:cs typeface="微软雅黑"/>
              </a:rPr>
              <a:t>一个用纯 Python 从零写出的 3D 射击游戏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没有游戏引擎、没有美术包 —— 从渲染到音效，全部由代码生成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1828800" cy="254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15184" y="1517904"/>
            <a:ext cx="457200" cy="25400"/>
          </a:xfrm>
          <a:prstGeom prst="rect">
            <a:avLst/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943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类型  </a:t>
            </a:r>
            <a:r>
              <a:rPr sz="14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第一人称射击（FPS） + 波次生存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59"/>
            <a:ext cx="5943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4EC8"/>
                </a:solidFill>
                <a:latin typeface="Microsoft YaHei"/>
                <a:ea typeface="微软雅黑"/>
                <a:cs typeface="微软雅黑"/>
              </a:rPr>
              <a:t>技术栈  </a:t>
            </a:r>
            <a:r>
              <a:rPr sz="14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Python 3.13 · pygame 2.6 · NumPy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799"/>
            <a:ext cx="5943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8FF60"/>
                </a:solidFill>
                <a:latin typeface="Microsoft YaHei"/>
                <a:ea typeface="微软雅黑"/>
                <a:cs typeface="微软雅黑"/>
              </a:rPr>
              <a:t>渲染  </a:t>
            </a:r>
            <a:r>
              <a:rPr sz="14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光线投射（Raycasting）伪 3D，内部 400×250 放大到 1200×750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20438"/>
            <a:ext cx="5943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C45C"/>
                </a:solidFill>
                <a:latin typeface="Microsoft YaHei"/>
                <a:ea typeface="微软雅黑"/>
                <a:cs typeface="微软雅黑"/>
              </a:rPr>
              <a:t>美术  </a:t>
            </a:r>
            <a:r>
              <a:rPr sz="14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零外部素材：墙面纹理 · 敌人精灵 · 音效 全部程序化生成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69079"/>
            <a:ext cx="5943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78FF"/>
                </a:solidFill>
                <a:latin typeface="Microsoft YaHei"/>
                <a:ea typeface="微软雅黑"/>
                <a:cs typeface="微软雅黑"/>
              </a:rPr>
              <a:t>节奏  </a:t>
            </a:r>
            <a:r>
              <a:rPr sz="14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共 8 波敌人，通关或被击杀；单局约 3–5 分钟</a:t>
            </a:r>
          </a:p>
        </p:txBody>
      </p:sp>
      <p:pic>
        <p:nvPicPr>
          <p:cNvPr id="15" name="Picture 14" descr="01_overview_comb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37360"/>
            <a:ext cx="4782312" cy="298894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675120" y="1737360"/>
            <a:ext cx="4782312" cy="2988945"/>
          </a:xfrm>
          <a:prstGeom prst="rect">
            <a:avLst/>
          </a:prstGeom>
          <a:noFill/>
          <a:ln w="13970">
            <a:solidFill>
              <a:srgbClr val="4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781169"/>
            <a:ext cx="4782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实机画面（无头渲染，与运行完全一致）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38928"/>
            <a:ext cx="3429000" cy="1078992"/>
          </a:xfrm>
          <a:prstGeom prst="roundRect">
            <a:avLst>
              <a:gd name="adj" fmla="val 10000"/>
            </a:avLst>
          </a:prstGeom>
          <a:solidFill>
            <a:srgbClr val="151B30">
              <a:alpha val="88000"/>
            </a:srgbClr>
          </a:solidFill>
          <a:ln w="15240">
            <a:solidFill>
              <a:srgbClr val="48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246827"/>
            <a:ext cx="342900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8F0FF"/>
                </a:solidFill>
                <a:effectLst>
                  <a:glow rad="88900">
                    <a:srgbClr val="48F0FF">
                      <a:alpha val="550"/>
                    </a:srgbClr>
                  </a:glow>
                </a:effectLst>
                <a:latin typeface="Consolas"/>
                <a:ea typeface="微软雅黑"/>
                <a:cs typeface="微软雅黑"/>
              </a:rPr>
              <a:t>5,945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4743"/>
            <a:ext cx="3429000" cy="3668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行 Python 代码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9976" y="5138928"/>
            <a:ext cx="3429000" cy="1078992"/>
          </a:xfrm>
          <a:prstGeom prst="roundRect">
            <a:avLst>
              <a:gd name="adj" fmla="val 10000"/>
            </a:avLst>
          </a:prstGeom>
          <a:solidFill>
            <a:srgbClr val="151B30">
              <a:alpha val="88000"/>
            </a:srgbClr>
          </a:solidFill>
          <a:ln w="15240">
            <a:solidFill>
              <a:srgbClr val="FF4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9976" y="5246827"/>
            <a:ext cx="342900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4EC8"/>
                </a:solidFill>
                <a:effectLst>
                  <a:glow rad="88900">
                    <a:srgbClr val="FF4EC8">
                      <a:alpha val="550"/>
                    </a:srgbClr>
                  </a:glow>
                </a:effectLst>
                <a:latin typeface="Consolas"/>
                <a:ea typeface="微软雅黑"/>
                <a:cs typeface="微软雅黑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6" y="5764743"/>
            <a:ext cx="3429000" cy="3668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个功能模块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2" y="5138928"/>
            <a:ext cx="3429000" cy="1078992"/>
          </a:xfrm>
          <a:prstGeom prst="roundRect">
            <a:avLst>
              <a:gd name="adj" fmla="val 10000"/>
            </a:avLst>
          </a:prstGeom>
          <a:solidFill>
            <a:srgbClr val="151B30">
              <a:alpha val="88000"/>
            </a:srgbClr>
          </a:solidFill>
          <a:ln w="15240">
            <a:solidFill>
              <a:srgbClr val="A8FF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2" y="5246827"/>
            <a:ext cx="3429000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A8FF60"/>
                </a:solidFill>
                <a:effectLst>
                  <a:glow rad="88900">
                    <a:srgbClr val="A8FF60">
                      <a:alpha val="550"/>
                    </a:srgbClr>
                  </a:glow>
                </a:effectLst>
                <a:latin typeface="Consolas"/>
                <a:ea typeface="微软雅黑"/>
                <a:cs typeface="微软雅黑"/>
              </a:rPr>
              <a:t>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2" y="5764743"/>
            <a:ext cx="3429000" cy="3668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目标帧率 FPS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2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16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2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16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82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16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92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NEON PROTOCOL  //  GAME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10896"/>
            <a:ext cx="1783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03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8FF"/>
                </a:solidFill>
                <a:effectLst>
                  <a:glow rad="76200">
                    <a:srgbClr val="147896">
                      <a:alpha val="550"/>
                    </a:srgbClr>
                  </a:glow>
                </a:effectLst>
                <a:latin typeface="Microsoft YaHei"/>
                <a:ea typeface="微软雅黑"/>
                <a:cs typeface="微软雅黑"/>
              </a:rPr>
              <a:t>用一局入侵，把「数据要塞」打穿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你的目标只有一个：顶着 8 波敌人，从入口一路打穿整座要塞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1828800" cy="254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15184" y="1517904"/>
            <a:ext cx="457200" cy="25400"/>
          </a:xfrm>
          <a:prstGeom prst="rect">
            <a:avLst/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566928" y="1874519"/>
            <a:ext cx="2249424" cy="1051560"/>
          </a:xfrm>
          <a:prstGeom prst="chevron">
            <a:avLst/>
          </a:prstGeom>
          <a:solidFill>
            <a:srgbClr val="151B30">
              <a:alpha val="92000"/>
            </a:srgbClr>
          </a:solidFill>
          <a:ln w="15240">
            <a:solidFill>
              <a:srgbClr val="48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01</a:t>
            </a:r>
          </a:p>
          <a:p>
            <a:pPr algn="ctr">
              <a:spcBef>
                <a:spcPts val="100"/>
              </a:spcBef>
            </a:pPr>
            <a:r>
              <a:rPr sz="1500" b="1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降入要塞</a:t>
            </a:r>
          </a:p>
        </p:txBody>
      </p:sp>
      <p:sp>
        <p:nvSpPr>
          <p:cNvPr id="11" name="Chevron 10"/>
          <p:cNvSpPr/>
          <p:nvPr/>
        </p:nvSpPr>
        <p:spPr>
          <a:xfrm>
            <a:off x="2798064" y="1874519"/>
            <a:ext cx="2249424" cy="1051560"/>
          </a:xfrm>
          <a:prstGeom prst="chevron">
            <a:avLst/>
          </a:prstGeom>
          <a:solidFill>
            <a:srgbClr val="151B30">
              <a:alpha val="92000"/>
            </a:srgbClr>
          </a:solidFill>
          <a:ln w="15240">
            <a:solidFill>
              <a:srgbClr val="FF4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4EC8"/>
                </a:solidFill>
                <a:latin typeface="Consolas"/>
                <a:ea typeface="微软雅黑"/>
                <a:cs typeface="微软雅黑"/>
              </a:rPr>
              <a:t>02</a:t>
            </a:r>
          </a:p>
          <a:p>
            <a:pPr algn="ctr">
              <a:spcBef>
                <a:spcPts val="100"/>
              </a:spcBef>
            </a:pPr>
            <a:r>
              <a:rPr sz="1500" b="1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迎战一波</a:t>
            </a:r>
          </a:p>
        </p:txBody>
      </p:sp>
      <p:sp>
        <p:nvSpPr>
          <p:cNvPr id="12" name="Chevron 11"/>
          <p:cNvSpPr/>
          <p:nvPr/>
        </p:nvSpPr>
        <p:spPr>
          <a:xfrm>
            <a:off x="5029200" y="1874519"/>
            <a:ext cx="2249424" cy="1051560"/>
          </a:xfrm>
          <a:prstGeom prst="chevron">
            <a:avLst/>
          </a:prstGeom>
          <a:solidFill>
            <a:srgbClr val="151B30">
              <a:alpha val="92000"/>
            </a:srgbClr>
          </a:solidFill>
          <a:ln w="15240">
            <a:solidFill>
              <a:srgbClr val="A8FF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A8FF60"/>
                </a:solidFill>
                <a:latin typeface="Consolas"/>
                <a:ea typeface="微软雅黑"/>
                <a:cs typeface="微软雅黑"/>
              </a:rPr>
              <a:t>03</a:t>
            </a:r>
          </a:p>
          <a:p>
            <a:pPr algn="ctr">
              <a:spcBef>
                <a:spcPts val="100"/>
              </a:spcBef>
            </a:pPr>
            <a:r>
              <a:rPr sz="1500" b="1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清空整波</a:t>
            </a:r>
          </a:p>
        </p:txBody>
      </p:sp>
      <p:sp>
        <p:nvSpPr>
          <p:cNvPr id="13" name="Chevron 12"/>
          <p:cNvSpPr/>
          <p:nvPr/>
        </p:nvSpPr>
        <p:spPr>
          <a:xfrm>
            <a:off x="7260336" y="1874519"/>
            <a:ext cx="2249424" cy="1051560"/>
          </a:xfrm>
          <a:prstGeom prst="chevron">
            <a:avLst/>
          </a:prstGeom>
          <a:solidFill>
            <a:srgbClr val="151B30">
              <a:alpha val="92000"/>
            </a:srgbClr>
          </a:solidFill>
          <a:ln w="15240">
            <a:solidFill>
              <a:srgbClr val="FFC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C45C"/>
                </a:solidFill>
                <a:latin typeface="Consolas"/>
                <a:ea typeface="微软雅黑"/>
                <a:cs typeface="微软雅黑"/>
              </a:rPr>
              <a:t>04</a:t>
            </a:r>
          </a:p>
          <a:p>
            <a:pPr algn="ctr">
              <a:spcBef>
                <a:spcPts val="100"/>
              </a:spcBef>
            </a:pPr>
            <a:r>
              <a:rPr sz="1500" b="1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写入补丁</a:t>
            </a:r>
          </a:p>
        </p:txBody>
      </p:sp>
      <p:sp>
        <p:nvSpPr>
          <p:cNvPr id="14" name="Chevron 13"/>
          <p:cNvSpPr/>
          <p:nvPr/>
        </p:nvSpPr>
        <p:spPr>
          <a:xfrm>
            <a:off x="9491472" y="1874519"/>
            <a:ext cx="2249424" cy="1051560"/>
          </a:xfrm>
          <a:prstGeom prst="chevron">
            <a:avLst/>
          </a:prstGeom>
          <a:solidFill>
            <a:srgbClr val="151B30">
              <a:alpha val="92000"/>
            </a:srgbClr>
          </a:solidFill>
          <a:ln w="15240">
            <a:solidFill>
              <a:srgbClr val="B27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278FF"/>
                </a:solidFill>
                <a:latin typeface="Consolas"/>
                <a:ea typeface="微软雅黑"/>
                <a:cs typeface="微软雅黑"/>
              </a:rPr>
              <a:t>05</a:t>
            </a:r>
          </a:p>
          <a:p>
            <a:pPr algn="ctr">
              <a:spcBef>
                <a:spcPts val="100"/>
              </a:spcBef>
            </a:pPr>
            <a:r>
              <a:rPr sz="1500" b="1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更强的敌人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54680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第 5 步之后回到第 2 步并不断升级难度，直到你打穿 8 波，或者被敌人清空血量。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03320"/>
            <a:ext cx="5175504" cy="1371600"/>
          </a:xfrm>
          <a:prstGeom prst="roundRect">
            <a:avLst>
              <a:gd name="adj" fmla="val 8000"/>
            </a:avLst>
          </a:prstGeom>
          <a:solidFill>
            <a:srgbClr val="151B30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703320"/>
            <a:ext cx="5175504" cy="33020"/>
          </a:xfrm>
          <a:prstGeom prst="rect">
            <a:avLst/>
          </a:prstGeom>
          <a:solidFill>
            <a:srgbClr val="A8F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822192"/>
            <a:ext cx="4864608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A8FF60"/>
                </a:solidFill>
                <a:effectLst>
                  <a:glow rad="63500">
                    <a:srgbClr val="A8FF60">
                      <a:alpha val="550"/>
                    </a:srgbClr>
                  </a:glow>
                </a:effectLst>
                <a:latin typeface="Consolas"/>
                <a:ea typeface="微软雅黑"/>
                <a:cs typeface="微软雅黑"/>
              </a:rPr>
              <a:t>FORTRESS BREACHED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通关：击穿全部 8 波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sz="13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敌人全部清空 → 数据要塞沦陷，入侵成功。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3703320"/>
            <a:ext cx="5175504" cy="1371600"/>
          </a:xfrm>
          <a:prstGeom prst="roundRect">
            <a:avLst>
              <a:gd name="adj" fmla="val 8000"/>
            </a:avLst>
          </a:prstGeom>
          <a:solidFill>
            <a:srgbClr val="151B30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3703320"/>
            <a:ext cx="5175504" cy="33020"/>
          </a:xfrm>
          <a:prstGeom prst="rect">
            <a:avLst/>
          </a:prstGeom>
          <a:solidFill>
            <a:srgbClr val="FF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3822192"/>
            <a:ext cx="4864608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4E5C"/>
                </a:solidFill>
                <a:effectLst>
                  <a:glow rad="63500">
                    <a:srgbClr val="FF4E5C">
                      <a:alpha val="550"/>
                    </a:srgbClr>
                  </a:glow>
                </a:effectLst>
                <a:latin typeface="Consolas"/>
                <a:ea typeface="微软雅黑"/>
                <a:cs typeface="微软雅黑"/>
              </a:rPr>
              <a:t>PROCESS TERMINATED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失败：结构完整度归零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sz="13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血量被打空 → 进程被强制终止，本局结束。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107259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三条核心数值：</a:t>
            </a:r>
            <a:r>
              <a:rPr sz="13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结构完整度 100（生命） · 护盾 60（先扣护盾再扣血） · 能量 100（弹药，自动回充）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NEON PROTOCOL  // 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10896"/>
            <a:ext cx="1783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04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8FF"/>
                </a:solidFill>
                <a:effectLst>
                  <a:glow rad="76200">
                    <a:srgbClr val="147896">
                      <a:alpha val="550"/>
                    </a:srgbClr>
                  </a:glow>
                </a:effectLst>
                <a:latin typeface="Microsoft YaHei"/>
                <a:ea typeface="微软雅黑"/>
                <a:cs typeface="微软雅黑"/>
              </a:rPr>
              <a:t>操作很简单，但爽点很密集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键位一览 —— 上手只要一分钟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1828800" cy="254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15184" y="1517904"/>
            <a:ext cx="457200" cy="25400"/>
          </a:xfrm>
          <a:prstGeom prst="rect">
            <a:avLst/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783080"/>
          <a:ext cx="5669280" cy="34564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28800"/>
                <a:gridCol w="38404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48F0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键位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48F0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功能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W A S D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移动 / 平移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鼠标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转向瞄准（左右 + 上下视角）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左键 / 空格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开火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SHIFT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冲刺（带无敌帧，可闪避）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1 / 2 / 3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切换三把武器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鼠标滚轮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快速换枪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TAB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全网拓扑图（全屏地图）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ESC / R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暂停 · 重开一局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02_contr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783080"/>
            <a:ext cx="5029200" cy="31432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28232" y="1783080"/>
            <a:ext cx="5029200" cy="3143250"/>
          </a:xfrm>
          <a:prstGeom prst="rect">
            <a:avLst/>
          </a:prstGeom>
          <a:noFill/>
          <a:ln w="13970">
            <a:solidFill>
              <a:srgbClr val="4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498119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游戏内的操作说明界面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A8FF60"/>
                </a:solidFill>
                <a:latin typeface="Microsoft YaHei"/>
                <a:ea typeface="微软雅黑"/>
                <a:cs typeface="微软雅黑"/>
              </a:rPr>
              <a:t>冲刺（Dash）是核心操作：</a:t>
            </a:r>
            <a:r>
              <a:rPr sz="12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0.17 秒无敌帧 + 9.6 格/秒爆发位移，用来躲弹、绕身、强行拉近或脱离。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2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NEON PROTOCOL  //  ARSENAL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10896"/>
            <a:ext cx="1783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05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8FF"/>
                </a:solidFill>
                <a:effectLst>
                  <a:glow rad="76200">
                    <a:srgbClr val="147896">
                      <a:alpha val="550"/>
                    </a:srgbClr>
                  </a:glow>
                </a:effectLst>
                <a:latin typeface="Microsoft YaHei"/>
                <a:ea typeface="微软雅黑"/>
                <a:cs typeface="微软雅黑"/>
              </a:rPr>
              <a:t>三把武器，三种节奏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共用一条能量池 —— 能量即弹药，会随时间自动回充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1828800" cy="254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15184" y="1517904"/>
            <a:ext cx="457200" cy="25400"/>
          </a:xfrm>
          <a:prstGeom prst="rect">
            <a:avLst/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783080"/>
          <a:ext cx="10725912" cy="2011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88920"/>
                <a:gridCol w="960120"/>
                <a:gridCol w="1051560"/>
                <a:gridCol w="960120"/>
                <a:gridCol w="914400"/>
                <a:gridCol w="914400"/>
                <a:gridCol w="3136392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48F0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武器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48F0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伤害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48F0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冷却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48F0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能耗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48F0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弹丸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48F0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穿透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48F0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定位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PULSE SMG 脉冲冲锋枪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11.0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0.098s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1.05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全自动 · 高射速切割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RAIL LANCE 磁轨长矛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62.0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0.62s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14.0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半自动 · 远程穿透重击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SCATTER ARRAY 散射阵列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9.5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0.42s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9.0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全自动 · 贴脸霰弹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03_weapons_f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50208"/>
            <a:ext cx="3749039" cy="234314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1520" y="3950208"/>
            <a:ext cx="3749039" cy="2343149"/>
          </a:xfrm>
          <a:prstGeom prst="rect">
            <a:avLst/>
          </a:prstGeom>
          <a:noFill/>
          <a:ln w="13970">
            <a:solidFill>
              <a:srgbClr val="4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114800"/>
            <a:ext cx="683971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■ </a:t>
            </a:r>
            <a:r>
              <a:rPr sz="135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能量即弹药：</a:t>
            </a:r>
            <a:r>
              <a:rPr sz="13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每次开火消耗能量，能量自动回充 —— 永远不会因为缺弹卡死。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773168"/>
            <a:ext cx="683971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4EC8"/>
                </a:solidFill>
                <a:latin typeface="Microsoft YaHei"/>
                <a:ea typeface="微软雅黑"/>
                <a:cs typeface="微软雅黑"/>
              </a:rPr>
              <a:t>■ </a:t>
            </a:r>
            <a:r>
              <a:rPr sz="1350" b="1">
                <a:solidFill>
                  <a:srgbClr val="FF4EC8"/>
                </a:solidFill>
                <a:latin typeface="Microsoft YaHei"/>
                <a:ea typeface="微软雅黑"/>
                <a:cs typeface="微软雅黑"/>
              </a:rPr>
              <a:t>后坐力与散布：</a:t>
            </a:r>
            <a:r>
              <a:rPr sz="13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连续开火会撑开准心，考验控枪；不同武器散布差异极大。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431536"/>
            <a:ext cx="683971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A8FF60"/>
                </a:solidFill>
                <a:latin typeface="Microsoft YaHei"/>
                <a:ea typeface="微软雅黑"/>
                <a:cs typeface="微软雅黑"/>
              </a:rPr>
              <a:t>■ </a:t>
            </a:r>
            <a:r>
              <a:rPr sz="1350" b="1">
                <a:solidFill>
                  <a:srgbClr val="A8FF60"/>
                </a:solidFill>
                <a:latin typeface="Microsoft YaHei"/>
                <a:ea typeface="微软雅黑"/>
                <a:cs typeface="微软雅黑"/>
              </a:rPr>
              <a:t>差异化定位：</a:t>
            </a:r>
            <a:r>
              <a:rPr sz="13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冲锋枪打贴身持续输出，磁轨打远距离单体，霰弹贴脸爆发。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2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NEON PROTOCOL  //  HOSTILES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10896"/>
            <a:ext cx="1783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06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8FF"/>
                </a:solidFill>
                <a:effectLst>
                  <a:glow rad="76200">
                    <a:srgbClr val="147896">
                      <a:alpha val="550"/>
                    </a:srgbClr>
                  </a:glow>
                </a:effectLst>
                <a:latin typeface="Microsoft YaHei"/>
                <a:ea typeface="微软雅黑"/>
                <a:cs typeface="微软雅黑"/>
              </a:rPr>
              <a:t>四种敌人，四套行为逻辑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速度以玩家移动速度为基准标定 —— 保证每一种敌人都能真正威胁到你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1828800" cy="254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15184" y="1517904"/>
            <a:ext cx="457200" cy="25400"/>
          </a:xfrm>
          <a:prstGeom prst="rect">
            <a:avLst/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783080"/>
          <a:ext cx="10725912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7440"/>
                <a:gridCol w="777240"/>
                <a:gridCol w="960120"/>
                <a:gridCol w="868680"/>
                <a:gridCol w="1188720"/>
                <a:gridCol w="2926080"/>
                <a:gridCol w="162763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8F0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敌人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8F0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HP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8F0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速度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8F0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伤害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8F0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攻击间隔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8F0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行为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8F0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分数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SENTRY 哨兵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46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1.90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1.45s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远程 · 保持 4.2 格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100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STALKER 潜行者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34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3.40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12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0.85s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近战 · 比玩家更快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140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WARDEN 守望者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168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1.28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17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1.9s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重装 · 高血高伤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320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PHANTOM 幻影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26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2.55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1.1s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闪现 · 瞬移拉近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180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04_enemy_eng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0"/>
            <a:ext cx="3566160" cy="22288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1520" y="4114800"/>
            <a:ext cx="3566160" cy="2228850"/>
          </a:xfrm>
          <a:prstGeom prst="rect">
            <a:avLst/>
          </a:prstGeom>
          <a:noFill/>
          <a:ln w="13970">
            <a:solidFill>
              <a:srgbClr val="4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4315968"/>
            <a:ext cx="702259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■ </a:t>
            </a:r>
            <a:r>
              <a:rPr sz="130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速度标定：</a:t>
            </a:r>
            <a:r>
              <a:rPr sz="13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近战必须比玩家快，远程靠火力压制，重装用血换机动 —— 否则敌人形同虚设。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5029200"/>
            <a:ext cx="702259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4EC8"/>
                </a:solidFill>
                <a:latin typeface="Microsoft YaHei"/>
                <a:ea typeface="微软雅黑"/>
                <a:cs typeface="微软雅黑"/>
              </a:rPr>
              <a:t>■ </a:t>
            </a:r>
            <a:r>
              <a:rPr sz="1300" b="1">
                <a:solidFill>
                  <a:srgbClr val="FF4EC8"/>
                </a:solidFill>
                <a:latin typeface="Microsoft YaHei"/>
                <a:ea typeface="微软雅黑"/>
                <a:cs typeface="微软雅黑"/>
              </a:rPr>
              <a:t>颜色即信息：</a:t>
            </a:r>
            <a:r>
              <a:rPr sz="13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每种敌人有专属霓虹色，雷达上的红点也用同一套颜色。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5742431"/>
            <a:ext cx="702259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A8FF60"/>
                </a:solidFill>
                <a:latin typeface="Microsoft YaHei"/>
                <a:ea typeface="微软雅黑"/>
                <a:cs typeface="微软雅黑"/>
              </a:rPr>
              <a:t>■ </a:t>
            </a:r>
            <a:r>
              <a:rPr sz="1300" b="1">
                <a:solidFill>
                  <a:srgbClr val="A8FF60"/>
                </a:solidFill>
                <a:latin typeface="Microsoft YaHei"/>
                <a:ea typeface="微软雅黑"/>
                <a:cs typeface="微软雅黑"/>
              </a:rPr>
              <a:t>同屏上限 26：</a:t>
            </a:r>
            <a:r>
              <a:rPr sz="13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兼顾性能与手感：既不会淹没玩家，也不会让战场显得空旷。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2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NEON PROTOCOL  //  SUPPLIES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10896"/>
            <a:ext cx="1783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07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8FF"/>
                </a:solidFill>
                <a:effectLst>
                  <a:glow rad="76200">
                    <a:srgbClr val="147896">
                      <a:alpha val="550"/>
                    </a:srgbClr>
                  </a:glow>
                </a:effectLst>
                <a:latin typeface="Microsoft YaHei"/>
                <a:ea typeface="微软雅黑"/>
                <a:cs typeface="微软雅黑"/>
              </a:rPr>
              <a:t>打倒敌人，掉落四种补给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掉落表：数据碎片 42% / 能量 30% / 修复 15% / 护盾 13%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1828800" cy="254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15184" y="1517904"/>
            <a:ext cx="457200" cy="25400"/>
          </a:xfrm>
          <a:prstGeom prst="rect">
            <a:avLst/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2551176" cy="2148840"/>
          </a:xfrm>
          <a:prstGeom prst="roundRect">
            <a:avLst>
              <a:gd name="adj" fmla="val 7000"/>
            </a:avLst>
          </a:prstGeom>
          <a:solidFill>
            <a:srgbClr val="151B30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783080"/>
            <a:ext cx="2551176" cy="381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1993392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197510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ENERGY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87168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能量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89504"/>
            <a:ext cx="20939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48F0FF"/>
                </a:solidFill>
                <a:effectLst>
                  <a:glow rad="76200">
                    <a:srgbClr val="48F0FF">
                      <a:alpha val="550"/>
                    </a:srgbClr>
                  </a:glow>
                </a:effectLst>
                <a:latin typeface="Consolas"/>
                <a:ea typeface="微软雅黑"/>
                <a:cs typeface="微软雅黑"/>
              </a:rPr>
              <a:t>+26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456432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30% 掉落 · 回复弹药能量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6432" y="1783080"/>
            <a:ext cx="2551176" cy="2148840"/>
          </a:xfrm>
          <a:prstGeom prst="roundRect">
            <a:avLst>
              <a:gd name="adj" fmla="val 7000"/>
            </a:avLst>
          </a:prstGeom>
          <a:solidFill>
            <a:srgbClr val="151B30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56432" y="1783080"/>
            <a:ext cx="2551176" cy="38100"/>
          </a:xfrm>
          <a:prstGeom prst="rect">
            <a:avLst/>
          </a:prstGeom>
          <a:solidFill>
            <a:srgbClr val="FF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85032" y="1993392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78224" y="197510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4E5C"/>
                </a:solidFill>
                <a:latin typeface="Consolas"/>
                <a:ea typeface="微软雅黑"/>
                <a:cs typeface="微软雅黑"/>
              </a:rPr>
              <a:t>REPAIR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5032" y="2487168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结构修复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2889504"/>
            <a:ext cx="20939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4E5C"/>
                </a:solidFill>
                <a:effectLst>
                  <a:glow rad="76200">
                    <a:srgbClr val="FF4E5C">
                      <a:alpha val="550"/>
                    </a:srgbClr>
                  </a:glow>
                </a:effectLst>
                <a:latin typeface="Consolas"/>
                <a:ea typeface="微软雅黑"/>
                <a:cs typeface="微软雅黑"/>
              </a:rPr>
              <a:t>+24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456432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15% 掉落 · 回复生命值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1783080"/>
            <a:ext cx="2551176" cy="2148840"/>
          </a:xfrm>
          <a:prstGeom prst="roundRect">
            <a:avLst>
              <a:gd name="adj" fmla="val 7000"/>
            </a:avLst>
          </a:prstGeom>
          <a:solidFill>
            <a:srgbClr val="151B30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1344" y="1783080"/>
            <a:ext cx="2551176" cy="38100"/>
          </a:xfrm>
          <a:prstGeom prst="rect">
            <a:avLst/>
          </a:prstGeom>
          <a:solidFill>
            <a:srgbClr val="FFC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9944" y="1993392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C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03136" y="197510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C45C"/>
                </a:solidFill>
                <a:latin typeface="Consolas"/>
                <a:ea typeface="微软雅黑"/>
                <a:cs typeface="微软雅黑"/>
              </a:rPr>
              <a:t>ARMOR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2487168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护盾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2889504"/>
            <a:ext cx="20939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C45C"/>
                </a:solidFill>
                <a:effectLst>
                  <a:glow rad="76200">
                    <a:srgbClr val="FFC45C">
                      <a:alpha val="550"/>
                    </a:srgbClr>
                  </a:glow>
                </a:effectLst>
                <a:latin typeface="Consolas"/>
                <a:ea typeface="微软雅黑"/>
                <a:cs typeface="微软雅黑"/>
              </a:rPr>
              <a:t>+22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3456432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13% 掉落 · 回复护盾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06256" y="1783080"/>
            <a:ext cx="2551176" cy="2148840"/>
          </a:xfrm>
          <a:prstGeom prst="roundRect">
            <a:avLst>
              <a:gd name="adj" fmla="val 7000"/>
            </a:avLst>
          </a:prstGeom>
          <a:solidFill>
            <a:srgbClr val="151B30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06256" y="1783080"/>
            <a:ext cx="2551176" cy="38100"/>
          </a:xfrm>
          <a:prstGeom prst="rect">
            <a:avLst/>
          </a:prstGeom>
          <a:solidFill>
            <a:srgbClr val="B27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34856" y="1993392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B27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28048" y="197510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78FF"/>
                </a:solidFill>
                <a:latin typeface="Consolas"/>
                <a:ea typeface="微软雅黑"/>
                <a:cs typeface="微软雅黑"/>
              </a:rPr>
              <a:t>SHARD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4856" y="2487168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数据碎片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4856" y="2889504"/>
            <a:ext cx="20939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B278FF"/>
                </a:solidFill>
                <a:effectLst>
                  <a:glow rad="76200">
                    <a:srgbClr val="B278FF">
                      <a:alpha val="550"/>
                    </a:srgbClr>
                  </a:glow>
                </a:effectLst>
                <a:latin typeface="Consolas"/>
                <a:ea typeface="微软雅黑"/>
                <a:cs typeface="微软雅黑"/>
              </a:rPr>
              <a:t>×1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4856" y="3456432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42% 掉落 · 计分货币</a:t>
            </a:r>
          </a:p>
        </p:txBody>
      </p:sp>
      <p:pic>
        <p:nvPicPr>
          <p:cNvPr id="38" name="Picture 37" descr="05_pickups_s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0"/>
            <a:ext cx="3566160" cy="222885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731520" y="4114800"/>
            <a:ext cx="3566160" cy="2228850"/>
          </a:xfrm>
          <a:prstGeom prst="rect">
            <a:avLst/>
          </a:prstGeom>
          <a:noFill/>
          <a:ln w="13970">
            <a:solidFill>
              <a:srgbClr val="4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4261104"/>
            <a:ext cx="70225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B278FF"/>
                </a:solidFill>
                <a:latin typeface="Microsoft YaHei"/>
                <a:ea typeface="微软雅黑"/>
                <a:cs typeface="微软雅黑"/>
              </a:rPr>
              <a:t>■ </a:t>
            </a:r>
            <a:r>
              <a:rPr sz="1350" b="1">
                <a:solidFill>
                  <a:srgbClr val="B278FF"/>
                </a:solidFill>
                <a:latin typeface="Microsoft YaHei"/>
                <a:ea typeface="微软雅黑"/>
                <a:cs typeface="微软雅黑"/>
              </a:rPr>
              <a:t>碎片即分数：</a:t>
            </a:r>
            <a:r>
              <a:rPr sz="13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数据碎片累积进 SHARDS，直接影响结算评分。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4937760"/>
            <a:ext cx="70225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■ </a:t>
            </a:r>
            <a:r>
              <a:rPr sz="135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能量自动回充：</a:t>
            </a:r>
            <a:r>
              <a:rPr sz="13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即使一时没捡到能量补给，也会随时间慢慢恢复。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5614416"/>
            <a:ext cx="70225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4E5C"/>
                </a:solidFill>
                <a:latin typeface="Microsoft YaHei"/>
                <a:ea typeface="微软雅黑"/>
                <a:cs typeface="微软雅黑"/>
              </a:rPr>
              <a:t>■ </a:t>
            </a:r>
            <a:r>
              <a:rPr sz="1350" b="1">
                <a:solidFill>
                  <a:srgbClr val="FF4E5C"/>
                </a:solidFill>
                <a:latin typeface="Microsoft YaHei"/>
                <a:ea typeface="微软雅黑"/>
                <a:cs typeface="微软雅黑"/>
              </a:rPr>
              <a:t>续航靠修复：</a:t>
            </a:r>
            <a:r>
              <a:rPr sz="13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结构完整度归零即本局结束，所以修复掉落是活命关键。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3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5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7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16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97" dur="4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ntr" presetSubtype="16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17" dur="4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NEON PROTOCOL  //  LEVEL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10896"/>
            <a:ext cx="1783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08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8FF"/>
                </a:solidFill>
                <a:effectLst>
                  <a:glow rad="76200">
                    <a:srgbClr val="147896">
                      <a:alpha val="550"/>
                    </a:srgbClr>
                  </a:glow>
                </a:effectLst>
                <a:latin typeface="Microsoft YaHei"/>
                <a:ea typeface="微软雅黑"/>
                <a:cs typeface="微软雅黑"/>
              </a:rPr>
              <a:t>每一局，都是程序化生成的迷宫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42 × 34 格 · 随机房间 + L 形走廊 + 环路 + 承重柱，5 步生成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1828800" cy="254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15184" y="1517904"/>
            <a:ext cx="457200" cy="25400"/>
          </a:xfrm>
          <a:prstGeom prst="rect">
            <a:avLst/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48F0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56231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4121A"/>
                </a:solidFill>
                <a:latin typeface="Consolas"/>
                <a:ea typeface="微软雅黑"/>
                <a:cs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8288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随机投掷矩形房间，用 AABB 拒绝重叠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95728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48F0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23160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4121A"/>
                </a:solidFill>
                <a:latin typeface="Consolas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395728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L 形走廊把所有房间连成一棵连通的树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62656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48F0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90088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4121A"/>
                </a:solidFill>
                <a:latin typeface="Consolas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2962656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额外补几条环路：永远有退路，支持绕后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29584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48F0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57015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4121A"/>
                </a:solidFill>
                <a:latin typeface="Consolas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529584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在大房间放承重柱：制造掩体与视线遮挡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096512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48F0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123944"/>
            <a:ext cx="3840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4121A"/>
                </a:solidFill>
                <a:latin typeface="Consolas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4096512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低频噪声给墙面分区上色，形成有辨识度的区域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5943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4EC8"/>
                </a:solidFill>
                <a:latin typeface="Microsoft YaHei"/>
                <a:ea typeface="微软雅黑"/>
                <a:cs typeface="微软雅黑"/>
              </a:rPr>
              <a:t>8 种墙面材质分区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20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合金板 · 电路板 · 霓虹光带 · 数据机柜 · 核心屏障 · 全息幕墙 · 装甲格栅（+ 空）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20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不同区域颜色不同，玩家可以凭视觉判断自己在要塞的哪个位置。</a:t>
            </a:r>
          </a:p>
        </p:txBody>
      </p:sp>
      <p:pic>
        <p:nvPicPr>
          <p:cNvPr id="26" name="Picture 25" descr="06_full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83080"/>
            <a:ext cx="4782312" cy="2988945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675120" y="1783080"/>
            <a:ext cx="4782312" cy="2988945"/>
          </a:xfrm>
          <a:prstGeom prst="rect">
            <a:avLst/>
          </a:prstGeom>
          <a:noFill/>
          <a:ln w="13970">
            <a:solidFill>
              <a:srgbClr val="4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826889"/>
            <a:ext cx="4782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整张要塞地图（Tab 全网拓扑图）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7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NEON PROTOCOL  //  RECON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10896"/>
            <a:ext cx="1783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09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8FF"/>
                </a:solidFill>
                <a:effectLst>
                  <a:glow rad="76200">
                    <a:srgbClr val="147896">
                      <a:alpha val="550"/>
                    </a:srgbClr>
                  </a:glow>
                </a:effectLst>
                <a:latin typeface="Microsoft YaHei"/>
                <a:ea typeface="微软雅黑"/>
                <a:cs typeface="微软雅黑"/>
              </a:rPr>
              <a:t>战场信息：雷达 · 战争迷雾 · 全网拓扑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不靠记忆，靠界面把信息喂给你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1828800" cy="254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15184" y="1517904"/>
            <a:ext cx="457200" cy="25400"/>
          </a:xfrm>
          <a:prstGeom prst="rect">
            <a:avLst/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847088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151B30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47088"/>
            <a:ext cx="5577840" cy="3048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38528"/>
            <a:ext cx="521208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RADAR 雷达（右上角）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12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以玩家为中心的 15×15 格方格图；红点代表敌人，白圈表示它正在追杀你。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07791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151B30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907791"/>
            <a:ext cx="5577840" cy="30480"/>
          </a:xfrm>
          <a:prstGeom prst="rect">
            <a:avLst/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99232"/>
            <a:ext cx="521208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4EC8"/>
                </a:solidFill>
                <a:latin typeface="Consolas"/>
                <a:ea typeface="微软雅黑"/>
                <a:cs typeface="微软雅黑"/>
              </a:rPr>
              <a:t>战争迷雾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12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只点亮你走过的区域；没去过的区域保持黑暗，营造探索感。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68496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151B30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968496"/>
            <a:ext cx="5577840" cy="30480"/>
          </a:xfrm>
          <a:prstGeom prst="rect">
            <a:avLst/>
          </a:prstGeom>
          <a:solidFill>
            <a:srgbClr val="A8F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59935"/>
            <a:ext cx="521208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8FF60"/>
                </a:solidFill>
                <a:latin typeface="Consolas"/>
                <a:ea typeface="微软雅黑"/>
                <a:cs typeface="微软雅黑"/>
              </a:rPr>
              <a:t>Tab 全网拓扑图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12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整张要塞的完整地图，敌人 / 掉落 / 玩家位置全部实时标注。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151B30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029200"/>
            <a:ext cx="5577840" cy="30480"/>
          </a:xfrm>
          <a:prstGeom prst="rect">
            <a:avLst/>
          </a:prstGeom>
          <a:solidFill>
            <a:srgbClr val="FFC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521208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C45C"/>
                </a:solidFill>
                <a:latin typeface="Consolas"/>
                <a:ea typeface="微软雅黑"/>
                <a:cs typeface="微软雅黑"/>
              </a:rPr>
              <a:t>视觉定位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12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雷达与全屏地图共用同一张底图与坐标映射，标记位置严格一致。</a:t>
            </a:r>
          </a:p>
        </p:txBody>
      </p:sp>
      <p:pic>
        <p:nvPicPr>
          <p:cNvPr id="22" name="Picture 21" descr="06_full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5056632" cy="316039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400800" y="1783080"/>
            <a:ext cx="5056632" cy="3160395"/>
          </a:xfrm>
          <a:prstGeom prst="rect">
            <a:avLst/>
          </a:prstGeom>
          <a:noFill/>
          <a:ln w="13970">
            <a:solidFill>
              <a:srgbClr val="4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998339"/>
            <a:ext cx="5056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全屏「网络拓扑图」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57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NEON PROTOCOL  //  WAVES &amp; DIFFICULTY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10896"/>
            <a:ext cx="1783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8FF"/>
                </a:solidFill>
                <a:effectLst>
                  <a:glow rad="76200">
                    <a:srgbClr val="147896">
                      <a:alpha val="550"/>
                    </a:srgbClr>
                  </a:glow>
                </a:effectLst>
                <a:latin typeface="Microsoft YaHei"/>
                <a:ea typeface="微软雅黑"/>
                <a:cs typeface="微软雅黑"/>
              </a:rPr>
              <a:t>8 波敌人，越来越难，但你有成长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每一波敌人更多、更硬、更痛；清空后靠升级补回来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1828800" cy="254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15184" y="1517904"/>
            <a:ext cx="457200" cy="25400"/>
          </a:xfrm>
          <a:prstGeom prst="rect">
            <a:avLst/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810512"/>
          <a:ext cx="5852160" cy="2743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28800"/>
                <a:gridCol w="40233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48F0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波次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48F0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敌人构成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第 1 波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哨兵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第 2 波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哨兵 · 潜行者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第 3 波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哨兵 · 潜行者 · 幻影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第 5 波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加入 守望者</a:t>
                      </a:r>
                    </a:p>
                  </a:txBody>
                  <a:tcPr marL="91440" marR="54864" marT="18288" marB="18288" anchor="ctr">
                    <a:solidFill>
                      <a:srgbClr val="151B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ECF8FF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第 7 波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8094BA"/>
                          </a:solidFill>
                          <a:latin typeface="Consolas"/>
                          <a:ea typeface="微软雅黑"/>
                          <a:cs typeface="微软雅黑"/>
                        </a:rPr>
                        <a:t>四种敌人全出</a:t>
                      </a:r>
                    </a:p>
                  </a:txBody>
                  <a:tcPr marL="91440" marR="54864" marT="18288" marB="18288" anchor="ctr">
                    <a:solidFill>
                      <a:srgbClr val="10152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4754880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C45C"/>
                </a:solidFill>
                <a:latin typeface="Microsoft YaHei"/>
                <a:ea typeface="微软雅黑"/>
                <a:cs typeface="微软雅黑"/>
              </a:rPr>
              <a:t>解锁规则：</a:t>
            </a:r>
            <a:r>
              <a:rPr sz="12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敌人种类随波次逐步解锁，前期只有哨兵，后期四种同屏混战。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810512"/>
            <a:ext cx="2203704" cy="1371600"/>
          </a:xfrm>
          <a:prstGeom prst="roundRect">
            <a:avLst>
              <a:gd name="adj" fmla="val 10000"/>
            </a:avLst>
          </a:prstGeom>
          <a:solidFill>
            <a:srgbClr val="151B30">
              <a:alpha val="88000"/>
            </a:srgbClr>
          </a:solidFill>
          <a:ln w="15240">
            <a:solidFill>
              <a:srgbClr val="48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947672"/>
            <a:ext cx="2203704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8F0FF"/>
                </a:solidFill>
                <a:effectLst>
                  <a:glow rad="88900">
                    <a:srgbClr val="48F0FF">
                      <a:alpha val="550"/>
                    </a:srgbClr>
                  </a:glow>
                </a:effectLst>
                <a:latin typeface="Consolas"/>
                <a:ea typeface="微软雅黑"/>
                <a:cs typeface="微软雅黑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606040"/>
            <a:ext cx="2203704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第 1 波敌人数量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53728" y="1810512"/>
            <a:ext cx="2203704" cy="1371600"/>
          </a:xfrm>
          <a:prstGeom prst="roundRect">
            <a:avLst>
              <a:gd name="adj" fmla="val 10000"/>
            </a:avLst>
          </a:prstGeom>
          <a:solidFill>
            <a:srgbClr val="151B30">
              <a:alpha val="88000"/>
            </a:srgbClr>
          </a:solidFill>
          <a:ln w="15240">
            <a:solidFill>
              <a:srgbClr val="FF4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1947672"/>
            <a:ext cx="2203704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4EC8"/>
                </a:solidFill>
                <a:effectLst>
                  <a:glow rad="88900">
                    <a:srgbClr val="FF4EC8">
                      <a:alpha val="550"/>
                    </a:srgbClr>
                  </a:glow>
                </a:effectLst>
                <a:latin typeface="Consolas"/>
                <a:ea typeface="微软雅黑"/>
                <a:cs typeface="微软雅黑"/>
              </a:rPr>
              <a:t>+2.3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2606040"/>
            <a:ext cx="2203704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每波新增敌人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3383280"/>
            <a:ext cx="2203704" cy="1371600"/>
          </a:xfrm>
          <a:prstGeom prst="roundRect">
            <a:avLst>
              <a:gd name="adj" fmla="val 10000"/>
            </a:avLst>
          </a:prstGeom>
          <a:solidFill>
            <a:srgbClr val="151B30">
              <a:alpha val="88000"/>
            </a:srgbClr>
          </a:solidFill>
          <a:ln w="15240">
            <a:solidFill>
              <a:srgbClr val="A8FF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3520440"/>
            <a:ext cx="2203704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A8FF60"/>
                </a:solidFill>
                <a:effectLst>
                  <a:glow rad="88900">
                    <a:srgbClr val="A8FF60">
                      <a:alpha val="550"/>
                    </a:srgbClr>
                  </a:glow>
                </a:effectLst>
                <a:latin typeface="Consolas"/>
                <a:ea typeface="微软雅黑"/>
                <a:cs typeface="微软雅黑"/>
              </a:rPr>
              <a:t>+16%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178808"/>
            <a:ext cx="2203704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每波血量成长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53728" y="3383280"/>
            <a:ext cx="2203704" cy="1371600"/>
          </a:xfrm>
          <a:prstGeom prst="roundRect">
            <a:avLst>
              <a:gd name="adj" fmla="val 10000"/>
            </a:avLst>
          </a:prstGeom>
          <a:solidFill>
            <a:srgbClr val="151B30">
              <a:alpha val="88000"/>
            </a:srgbClr>
          </a:solidFill>
          <a:ln w="15240">
            <a:solidFill>
              <a:srgbClr val="FFC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3520440"/>
            <a:ext cx="2203704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C45C"/>
                </a:solidFill>
                <a:effectLst>
                  <a:glow rad="88900">
                    <a:srgbClr val="FFC45C">
                      <a:alpha val="550"/>
                    </a:srgbClr>
                  </a:glow>
                </a:effectLst>
                <a:latin typeface="Consolas"/>
                <a:ea typeface="微软雅黑"/>
                <a:cs typeface="微软雅黑"/>
              </a:rPr>
              <a:t>+7.5%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4178808"/>
            <a:ext cx="2203704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每波伤害成长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956048"/>
            <a:ext cx="45994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同屏敌人上限 26 </a:t>
            </a:r>
            <a:r>
              <a:rPr sz="12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—— 兼顾性能与手感，既不会淹没玩家，也不会让战场太空。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57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7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16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7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NEON PROTOCOL  //  PROTOCOL 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10896"/>
            <a:ext cx="1783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11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8FF"/>
                </a:solidFill>
                <a:effectLst>
                  <a:glow rad="76200">
                    <a:srgbClr val="147896">
                      <a:alpha val="550"/>
                    </a:srgbClr>
                  </a:glow>
                </a:effectLst>
                <a:latin typeface="Microsoft YaHei"/>
                <a:ea typeface="微软雅黑"/>
                <a:cs typeface="微软雅黑"/>
              </a:rPr>
              <a:t>每清空一波，给自己写入一条协议补丁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共 10 种升级，每次随机三选一 —— 构建属于你这一局的流派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1828800" cy="254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15184" y="1517904"/>
            <a:ext cx="457200" cy="25400"/>
          </a:xfrm>
          <a:prstGeom prst="rect">
            <a:avLst/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810512"/>
            <a:ext cx="3246120" cy="640080"/>
          </a:xfrm>
          <a:prstGeom prst="roundRect">
            <a:avLst>
              <a:gd name="adj" fmla="val 6000"/>
            </a:avLst>
          </a:prstGeom>
          <a:solidFill>
            <a:srgbClr val="151B30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10512"/>
            <a:ext cx="82296" cy="8890"/>
          </a:xfrm>
          <a:prstGeom prst="rect">
            <a:avLst/>
          </a:prstGeom>
          <a:solidFill>
            <a:srgbClr val="FF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810512"/>
            <a:ext cx="82296" cy="640080"/>
          </a:xfrm>
          <a:prstGeom prst="rect">
            <a:avLst/>
          </a:prstGeom>
          <a:solidFill>
            <a:srgbClr val="FF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865376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4E5C"/>
                </a:solidFill>
                <a:latin typeface="Microsoft YaHei"/>
                <a:ea typeface="微软雅黑"/>
                <a:cs typeface="微软雅黑"/>
              </a:rPr>
              <a:t>生物补丁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结构完整度 +25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810512"/>
            <a:ext cx="3246120" cy="640080"/>
          </a:xfrm>
          <a:prstGeom prst="roundRect">
            <a:avLst>
              <a:gd name="adj" fmla="val 6000"/>
            </a:avLst>
          </a:prstGeom>
          <a:solidFill>
            <a:srgbClr val="151B30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1810512"/>
            <a:ext cx="82296" cy="8890"/>
          </a:xfrm>
          <a:prstGeom prst="rect">
            <a:avLst/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810512"/>
            <a:ext cx="82296" cy="640080"/>
          </a:xfrm>
          <a:prstGeom prst="rect">
            <a:avLst/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865376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4EC8"/>
                </a:solidFill>
                <a:latin typeface="Microsoft YaHei"/>
                <a:ea typeface="微软雅黑"/>
                <a:cs typeface="微软雅黑"/>
              </a:rPr>
              <a:t>过载芯片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全武器伤害 +18%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569464"/>
            <a:ext cx="3246120" cy="640080"/>
          </a:xfrm>
          <a:prstGeom prst="roundRect">
            <a:avLst>
              <a:gd name="adj" fmla="val 6000"/>
            </a:avLst>
          </a:prstGeom>
          <a:solidFill>
            <a:srgbClr val="151B30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569464"/>
            <a:ext cx="82296" cy="889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569464"/>
            <a:ext cx="82296" cy="64008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262432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脉冲加速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射速 +14% · 能耗 -8%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2569464"/>
            <a:ext cx="3246120" cy="640080"/>
          </a:xfrm>
          <a:prstGeom prst="roundRect">
            <a:avLst>
              <a:gd name="adj" fmla="val 6000"/>
            </a:avLst>
          </a:prstGeom>
          <a:solidFill>
            <a:srgbClr val="151B30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2569464"/>
            <a:ext cx="82296" cy="8890"/>
          </a:xfrm>
          <a:prstGeom prst="rect">
            <a:avLst/>
          </a:prstGeom>
          <a:solidFill>
            <a:srgbClr val="A8F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2569464"/>
            <a:ext cx="82296" cy="640080"/>
          </a:xfrm>
          <a:prstGeom prst="rect">
            <a:avLst/>
          </a:prstGeom>
          <a:solidFill>
            <a:srgbClr val="A8F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262432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A8FF60"/>
                </a:solidFill>
                <a:latin typeface="Microsoft YaHei"/>
                <a:ea typeface="微软雅黑"/>
                <a:cs typeface="微软雅黑"/>
              </a:rPr>
              <a:t>肌纤维齿轮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移速 +10% · 冲刺 CD -18%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328415"/>
            <a:ext cx="3246120" cy="640080"/>
          </a:xfrm>
          <a:prstGeom prst="roundRect">
            <a:avLst>
              <a:gd name="adj" fmla="val 6000"/>
            </a:avLst>
          </a:prstGeom>
          <a:solidFill>
            <a:srgbClr val="151B30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328415"/>
            <a:ext cx="82296" cy="8890"/>
          </a:xfrm>
          <a:prstGeom prst="rect">
            <a:avLst/>
          </a:prstGeom>
          <a:solidFill>
            <a:srgbClr val="FFC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328415"/>
            <a:ext cx="82296" cy="640080"/>
          </a:xfrm>
          <a:prstGeom prst="rect">
            <a:avLst/>
          </a:prstGeom>
          <a:solidFill>
            <a:srgbClr val="FFC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3383279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C45C"/>
                </a:solidFill>
                <a:latin typeface="Microsoft YaHei"/>
                <a:ea typeface="微软雅黑"/>
                <a:cs typeface="微软雅黑"/>
              </a:rPr>
              <a:t>神盾涂层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最大护盾 +35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3328415"/>
            <a:ext cx="3246120" cy="640080"/>
          </a:xfrm>
          <a:prstGeom prst="roundRect">
            <a:avLst>
              <a:gd name="adj" fmla="val 6000"/>
            </a:avLst>
          </a:prstGeom>
          <a:solidFill>
            <a:srgbClr val="151B30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60520" y="3328415"/>
            <a:ext cx="82296" cy="8890"/>
          </a:xfrm>
          <a:prstGeom prst="rect">
            <a:avLst/>
          </a:prstGeom>
          <a:solidFill>
            <a:srgbClr val="B27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3328415"/>
            <a:ext cx="82296" cy="640080"/>
          </a:xfrm>
          <a:prstGeom prst="rect">
            <a:avLst/>
          </a:prstGeom>
          <a:solidFill>
            <a:srgbClr val="B27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1688" y="3383279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278FF"/>
                </a:solidFill>
                <a:latin typeface="Microsoft YaHei"/>
                <a:ea typeface="微软雅黑"/>
                <a:cs typeface="微软雅黑"/>
              </a:rPr>
              <a:t>相位弹头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子弹穿透 +1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087368"/>
            <a:ext cx="3246120" cy="640080"/>
          </a:xfrm>
          <a:prstGeom prst="roundRect">
            <a:avLst>
              <a:gd name="adj" fmla="val 6000"/>
            </a:avLst>
          </a:prstGeom>
          <a:solidFill>
            <a:srgbClr val="151B30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4087368"/>
            <a:ext cx="82296" cy="889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4087368"/>
            <a:ext cx="82296" cy="64008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414223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聚变电芯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能量 +40 · 回充 +45%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4087368"/>
            <a:ext cx="3246120" cy="640080"/>
          </a:xfrm>
          <a:prstGeom prst="roundRect">
            <a:avLst>
              <a:gd name="adj" fmla="val 6000"/>
            </a:avLst>
          </a:prstGeom>
          <a:solidFill>
            <a:srgbClr val="151B30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4087368"/>
            <a:ext cx="82296" cy="8890"/>
          </a:xfrm>
          <a:prstGeom prst="rect">
            <a:avLst/>
          </a:prstGeom>
          <a:solidFill>
            <a:srgbClr val="A8F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60520" y="4087368"/>
            <a:ext cx="82296" cy="640080"/>
          </a:xfrm>
          <a:prstGeom prst="rect">
            <a:avLst/>
          </a:prstGeom>
          <a:solidFill>
            <a:srgbClr val="A8F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61688" y="414223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A8FF60"/>
                </a:solidFill>
                <a:latin typeface="Microsoft YaHei"/>
                <a:ea typeface="微软雅黑"/>
                <a:cs typeface="微软雅黑"/>
              </a:rPr>
              <a:t>闪现驱动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冲刺 CD -25% · 无敌帧 +60%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846320"/>
            <a:ext cx="3246120" cy="640080"/>
          </a:xfrm>
          <a:prstGeom prst="roundRect">
            <a:avLst>
              <a:gd name="adj" fmla="val 6000"/>
            </a:avLst>
          </a:prstGeom>
          <a:solidFill>
            <a:srgbClr val="151B30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" y="4846320"/>
            <a:ext cx="82296" cy="8890"/>
          </a:xfrm>
          <a:prstGeom prst="rect">
            <a:avLst/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0" y="4846320"/>
            <a:ext cx="82296" cy="640080"/>
          </a:xfrm>
          <a:prstGeom prst="rect">
            <a:avLst/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4901184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4EC8"/>
                </a:solidFill>
                <a:latin typeface="Microsoft YaHei"/>
                <a:ea typeface="微软雅黑"/>
                <a:cs typeface="微软雅黑"/>
              </a:rPr>
              <a:t>弱点守护进程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暴击率 +15%（暴击 2.2×）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60520" y="4846320"/>
            <a:ext cx="3246120" cy="640080"/>
          </a:xfrm>
          <a:prstGeom prst="roundRect">
            <a:avLst>
              <a:gd name="adj" fmla="val 6000"/>
            </a:avLst>
          </a:prstGeom>
          <a:solidFill>
            <a:srgbClr val="151B30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60520" y="4846320"/>
            <a:ext cx="82296" cy="8890"/>
          </a:xfrm>
          <a:prstGeom prst="rect">
            <a:avLst/>
          </a:prstGeom>
          <a:solidFill>
            <a:srgbClr val="FF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60520" y="4846320"/>
            <a:ext cx="82296" cy="640080"/>
          </a:xfrm>
          <a:prstGeom prst="rect">
            <a:avLst/>
          </a:prstGeom>
          <a:solidFill>
            <a:srgbClr val="FF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1688" y="4901184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4E5C"/>
                </a:solidFill>
                <a:latin typeface="Microsoft YaHei"/>
                <a:ea typeface="微软雅黑"/>
                <a:cs typeface="微软雅黑"/>
              </a:rPr>
              <a:t>汲取协议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击杀回复 4 点血量</a:t>
            </a:r>
          </a:p>
        </p:txBody>
      </p:sp>
      <p:pic>
        <p:nvPicPr>
          <p:cNvPr id="50" name="Picture 49" descr="07_upgr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783080"/>
            <a:ext cx="4005072" cy="2503170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7452360" y="1783080"/>
            <a:ext cx="4005072" cy="2503170"/>
          </a:xfrm>
          <a:prstGeom prst="rect">
            <a:avLst/>
          </a:prstGeom>
          <a:noFill/>
          <a:ln w="13970">
            <a:solidFill>
              <a:srgbClr val="4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52360" y="4341114"/>
            <a:ext cx="4005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升级选卡界面（三选一）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60" y="4754880"/>
            <a:ext cx="40050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C45C"/>
                </a:solidFill>
                <a:latin typeface="Microsoft YaHei"/>
                <a:ea typeface="微软雅黑"/>
                <a:cs typeface="微软雅黑"/>
              </a:rPr>
              <a:t>为什么这样设计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2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升级会和敌人成长对冲：敌人每波更硬，但你可以堆伤害、堆生存、堆机动，走出完全不同的打法。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20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10 种补丁覆盖 伤害 / 生存 / 机动 / 暴击 四条流派线。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16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87" dur="4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NEON PROTOCOL  //  AESTHETIC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10896"/>
            <a:ext cx="1783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8FF"/>
                </a:solidFill>
                <a:effectLst>
                  <a:glow rad="76200">
                    <a:srgbClr val="147896">
                      <a:alpha val="550"/>
                    </a:srgbClr>
                  </a:glow>
                </a:effectLst>
                <a:latin typeface="Microsoft YaHei"/>
                <a:ea typeface="微软雅黑"/>
                <a:cs typeface="微软雅黑"/>
              </a:rPr>
              <a:t>霓虹是外壳，后处理才是灵魂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低分辨率 3D 画面 + 现代锐利 UI，营造复古 CRT 质感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1828800" cy="254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15184" y="1517904"/>
            <a:ext cx="457200" cy="25400"/>
          </a:xfrm>
          <a:prstGeom prst="rect">
            <a:avLst/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47088"/>
            <a:ext cx="5212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双层分辨率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12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内部只渲染 400×250，再整数倍放大到 1200×750，得到复古像素颗粒感。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47088"/>
            <a:ext cx="5212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扫描线 + 暗角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12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每 3 行压暗一次，配合四周暗角，模拟老式显示器。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5212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故障撕裂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12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每帧 1% 概率触发横向撕裂，制造数字噪声的不稳定感。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017520"/>
            <a:ext cx="5212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粒子与震动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12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开火、命中有粒子飞溅；受击、开火会屏幕震动。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87952"/>
            <a:ext cx="5212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自发光墙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12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霓虹墙受雾影响更弱，远处仍保持亮度，形成纵深光带。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187952"/>
            <a:ext cx="5212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极致性能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125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全部渲染用 NumPy 向量化，实测稳定 60 FPS 以上。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32120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547725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CYAN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42032" y="5486400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52928" y="547725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F4EC8"/>
                </a:solidFill>
                <a:latin typeface="Consolas"/>
                <a:ea typeface="微软雅黑"/>
                <a:cs typeface="微软雅黑"/>
              </a:rPr>
              <a:t>MAGENTA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2544" y="5486400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A8F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547725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A8FF60"/>
                </a:solidFill>
                <a:latin typeface="Consolas"/>
                <a:ea typeface="微软雅黑"/>
                <a:cs typeface="微软雅黑"/>
              </a:rPr>
              <a:t>LIME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5" y="5486400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C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1" y="547725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FC45C"/>
                </a:solidFill>
                <a:latin typeface="Consolas"/>
                <a:ea typeface="微软雅黑"/>
                <a:cs typeface="微软雅黑"/>
              </a:rPr>
              <a:t>AMBER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8" y="5486400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B27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547725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B278FF"/>
                </a:solidFill>
                <a:latin typeface="Consolas"/>
                <a:ea typeface="微软雅黑"/>
                <a:cs typeface="微软雅黑"/>
              </a:rPr>
              <a:t>VIOLET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5486400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94976" y="547725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FF4E5C"/>
                </a:solidFill>
                <a:latin typeface="Consolas"/>
                <a:ea typeface="微软雅黑"/>
                <a:cs typeface="微软雅黑"/>
              </a:rPr>
              <a:t>RED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NEON PROTOCOL  //  HEADS-UP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10896"/>
            <a:ext cx="1783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8FF"/>
                </a:solidFill>
                <a:effectLst>
                  <a:glow rad="76200">
                    <a:srgbClr val="147896">
                      <a:alpha val="550"/>
                    </a:srgbClr>
                  </a:glow>
                </a:effectLst>
                <a:latin typeface="Microsoft YaHei"/>
                <a:ea typeface="微软雅黑"/>
                <a:cs typeface="微软雅黑"/>
              </a:rPr>
              <a:t>屏幕上每一个像素，都在汇报状态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17904"/>
            <a:ext cx="1828800" cy="254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5184" y="1517904"/>
            <a:ext cx="457200" cy="25400"/>
          </a:xfrm>
          <a:prstGeom prst="rect">
            <a:avLst/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47088"/>
            <a:ext cx="5212080" cy="731520"/>
          </a:xfrm>
          <a:prstGeom prst="roundRect">
            <a:avLst>
              <a:gd name="adj" fmla="val 6000"/>
            </a:avLst>
          </a:prstGeom>
          <a:solidFill>
            <a:srgbClr val="151B30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9384"/>
            <a:ext cx="48463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动态准心  </a:t>
            </a:r>
            <a:r>
              <a:rPr sz="13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随移动、后坐力扩散，命中时弹出标记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5212080" cy="731520"/>
          </a:xfrm>
          <a:prstGeom prst="roundRect">
            <a:avLst>
              <a:gd name="adj" fmla="val 6000"/>
            </a:avLst>
          </a:prstGeom>
          <a:solidFill>
            <a:srgbClr val="151B30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34056"/>
            <a:ext cx="48463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三段状态条  </a:t>
            </a:r>
            <a:r>
              <a:rPr sz="13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结构完整度 / 护盾 / 能量，均为 30 段仪表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56432"/>
            <a:ext cx="5212080" cy="731520"/>
          </a:xfrm>
          <a:prstGeom prst="roundRect">
            <a:avLst>
              <a:gd name="adj" fmla="val 6000"/>
            </a:avLst>
          </a:prstGeom>
          <a:solidFill>
            <a:srgbClr val="151B30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38728"/>
            <a:ext cx="48463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武器面板  </a:t>
            </a:r>
            <a:r>
              <a:rPr sz="13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伤害 · 能耗 · 剩余弹药 · 穿透 · 暴击率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61104"/>
            <a:ext cx="5212080" cy="731520"/>
          </a:xfrm>
          <a:prstGeom prst="roundRect">
            <a:avLst>
              <a:gd name="adj" fmla="val 6000"/>
            </a:avLst>
          </a:prstGeom>
          <a:solidFill>
            <a:srgbClr val="151B30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48463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冲刺冷却环  </a:t>
            </a:r>
            <a:r>
              <a:rPr sz="13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SHIFT 就绪时亮起，未就绪显示回转进度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65776"/>
            <a:ext cx="5212080" cy="731520"/>
          </a:xfrm>
          <a:prstGeom prst="roundRect">
            <a:avLst>
              <a:gd name="adj" fmla="val 6000"/>
            </a:avLst>
          </a:prstGeom>
          <a:solidFill>
            <a:srgbClr val="151B30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48072"/>
            <a:ext cx="48463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顶部波次栏  </a:t>
            </a:r>
            <a:r>
              <a:rPr sz="13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WAVE / HOSTILES / SCORE / KILLS 一目了然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1847088"/>
            <a:ext cx="5212080" cy="731520"/>
          </a:xfrm>
          <a:prstGeom prst="roundRect">
            <a:avLst>
              <a:gd name="adj" fmla="val 6000"/>
            </a:avLst>
          </a:prstGeom>
          <a:solidFill>
            <a:srgbClr val="151B30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1929384"/>
            <a:ext cx="48463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4EC8"/>
                </a:solidFill>
                <a:latin typeface="Microsoft YaHei"/>
                <a:ea typeface="微软雅黑"/>
                <a:cs typeface="微软雅黑"/>
              </a:rPr>
              <a:t>受击方向弧  </a:t>
            </a:r>
            <a:r>
              <a:rPr sz="13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在准心周围画弧，提示伤害来自哪个方向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2651760"/>
            <a:ext cx="5212080" cy="731520"/>
          </a:xfrm>
          <a:prstGeom prst="roundRect">
            <a:avLst>
              <a:gd name="adj" fmla="val 6000"/>
            </a:avLst>
          </a:prstGeom>
          <a:solidFill>
            <a:srgbClr val="151B30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2734056"/>
            <a:ext cx="48463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4EC8"/>
                </a:solidFill>
                <a:latin typeface="Microsoft YaHei"/>
                <a:ea typeface="微软雅黑"/>
                <a:cs typeface="微软雅黑"/>
              </a:rPr>
              <a:t>浮动伤害数字  </a:t>
            </a:r>
            <a:r>
              <a:rPr sz="13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命中飘出伤害值，敌人头顶显示血条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3456432"/>
            <a:ext cx="5212080" cy="731520"/>
          </a:xfrm>
          <a:prstGeom prst="roundRect">
            <a:avLst>
              <a:gd name="adj" fmla="val 6000"/>
            </a:avLst>
          </a:prstGeom>
          <a:solidFill>
            <a:srgbClr val="151B30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3538728"/>
            <a:ext cx="48463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4EC8"/>
                </a:solidFill>
                <a:latin typeface="Microsoft YaHei"/>
                <a:ea typeface="微软雅黑"/>
                <a:cs typeface="微软雅黑"/>
              </a:rPr>
              <a:t>通知与横幅  </a:t>
            </a:r>
            <a:r>
              <a:rPr sz="13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波次来袭 / 区域清空 / 拾取提示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4261104"/>
            <a:ext cx="5212080" cy="731520"/>
          </a:xfrm>
          <a:prstGeom prst="roundRect">
            <a:avLst>
              <a:gd name="adj" fmla="val 6000"/>
            </a:avLst>
          </a:prstGeom>
          <a:solidFill>
            <a:srgbClr val="151B30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4343400"/>
            <a:ext cx="48463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4EC8"/>
                </a:solidFill>
                <a:latin typeface="Microsoft YaHei"/>
                <a:ea typeface="微软雅黑"/>
                <a:cs typeface="微软雅黑"/>
              </a:rPr>
              <a:t>性能与状态  </a:t>
            </a:r>
            <a:r>
              <a:rPr sz="13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FPS · 命中率 · 碎片数 · 警觉度（AGGRO）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89320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HUD 全部画在输出分辨率上：3D 画面负责氛围，UI 负责清晰 —— 一套界面同时拿到复古感与可读性。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2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NEON PROTOCOL  //  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10896"/>
            <a:ext cx="1783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094BA"/>
                </a:solidFill>
                <a:latin typeface="Consolas"/>
                <a:ea typeface="微软雅黑"/>
                <a:cs typeface="微软雅黑"/>
              </a:rPr>
              <a:t>14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8FF"/>
                </a:solidFill>
                <a:effectLst>
                  <a:glow rad="76200">
                    <a:srgbClr val="147896">
                      <a:alpha val="550"/>
                    </a:srgbClr>
                  </a:glow>
                </a:effectLst>
                <a:latin typeface="Microsoft YaHei"/>
                <a:ea typeface="微软雅黑"/>
                <a:cs typeface="微软雅黑"/>
              </a:rPr>
              <a:t>六个核心模块，各司其职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6187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一个学生项目，把「图形学 + 算法 + 工程组织」串成一条线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17904"/>
            <a:ext cx="1828800" cy="2540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15184" y="1517904"/>
            <a:ext cx="457200" cy="25400"/>
          </a:xfrm>
          <a:prstGeom prst="rect">
            <a:avLst/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810512"/>
            <a:ext cx="3447288" cy="914400"/>
          </a:xfrm>
          <a:prstGeom prst="roundRect">
            <a:avLst>
              <a:gd name="adj" fmla="val 7000"/>
            </a:avLst>
          </a:prstGeom>
          <a:solidFill>
            <a:srgbClr val="151B30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10512"/>
            <a:ext cx="3447288" cy="33020"/>
          </a:xfrm>
          <a:prstGeom prst="rect">
            <a:avLst/>
          </a:prstGeom>
          <a:solidFill>
            <a:srgbClr val="4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9384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config.py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全部数值与调参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810512"/>
            <a:ext cx="3447288" cy="914400"/>
          </a:xfrm>
          <a:prstGeom prst="roundRect">
            <a:avLst>
              <a:gd name="adj" fmla="val 7000"/>
            </a:avLst>
          </a:prstGeom>
          <a:solidFill>
            <a:srgbClr val="151B30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810512"/>
            <a:ext cx="3447288" cy="33020"/>
          </a:xfrm>
          <a:prstGeom prst="rect">
            <a:avLst/>
          </a:prstGeom>
          <a:solidFill>
            <a:srgbClr val="FF4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929384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4EC8"/>
                </a:solidFill>
                <a:latin typeface="Consolas"/>
                <a:ea typeface="微软雅黑"/>
                <a:cs typeface="微软雅黑"/>
              </a:rPr>
              <a:t>level.py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程序化地图生成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1810512"/>
            <a:ext cx="3447288" cy="914400"/>
          </a:xfrm>
          <a:prstGeom prst="roundRect">
            <a:avLst>
              <a:gd name="adj" fmla="val 7000"/>
            </a:avLst>
          </a:prstGeom>
          <a:solidFill>
            <a:srgbClr val="151B30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1856" y="1810512"/>
            <a:ext cx="3447288" cy="33020"/>
          </a:xfrm>
          <a:prstGeom prst="rect">
            <a:avLst/>
          </a:prstGeom>
          <a:solidFill>
            <a:srgbClr val="A8F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929384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A8FF60"/>
                </a:solidFill>
                <a:latin typeface="Consolas"/>
                <a:ea typeface="微软雅黑"/>
                <a:cs typeface="微软雅黑"/>
              </a:rPr>
              <a:t>entities.py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玩家 · 敌人 · 子弹 · 掉落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889504"/>
            <a:ext cx="3447288" cy="914400"/>
          </a:xfrm>
          <a:prstGeom prst="roundRect">
            <a:avLst>
              <a:gd name="adj" fmla="val 7000"/>
            </a:avLst>
          </a:prstGeom>
          <a:solidFill>
            <a:srgbClr val="151B30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889504"/>
            <a:ext cx="3447288" cy="33020"/>
          </a:xfrm>
          <a:prstGeom prst="rect">
            <a:avLst/>
          </a:prstGeom>
          <a:solidFill>
            <a:srgbClr val="FFC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008376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C45C"/>
                </a:solidFill>
                <a:latin typeface="Consolas"/>
                <a:ea typeface="微软雅黑"/>
                <a:cs typeface="微软雅黑"/>
              </a:rPr>
              <a:t>renderer.py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光线投射渲染管线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1688" y="2889504"/>
            <a:ext cx="3447288" cy="914400"/>
          </a:xfrm>
          <a:prstGeom prst="roundRect">
            <a:avLst>
              <a:gd name="adj" fmla="val 7000"/>
            </a:avLst>
          </a:prstGeom>
          <a:solidFill>
            <a:srgbClr val="151B30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1688" y="2889504"/>
            <a:ext cx="3447288" cy="33020"/>
          </a:xfrm>
          <a:prstGeom prst="rect">
            <a:avLst/>
          </a:prstGeom>
          <a:solidFill>
            <a:srgbClr val="B27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008376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78FF"/>
                </a:solidFill>
                <a:latin typeface="Consolas"/>
                <a:ea typeface="微软雅黑"/>
                <a:cs typeface="微软雅黑"/>
              </a:rPr>
              <a:t>hud.py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全部界面与地图显示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91856" y="2889504"/>
            <a:ext cx="3447288" cy="914400"/>
          </a:xfrm>
          <a:prstGeom prst="roundRect">
            <a:avLst>
              <a:gd name="adj" fmla="val 7000"/>
            </a:avLst>
          </a:prstGeom>
          <a:solidFill>
            <a:srgbClr val="151B30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1856" y="2889504"/>
            <a:ext cx="3447288" cy="33020"/>
          </a:xfrm>
          <a:prstGeom prst="rect">
            <a:avLst/>
          </a:prstGeom>
          <a:solidFill>
            <a:srgbClr val="FF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3008376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4E5C"/>
                </a:solidFill>
                <a:latin typeface="Consolas"/>
                <a:ea typeface="微软雅黑"/>
                <a:cs typeface="微软雅黑"/>
              </a:rPr>
              <a:t>game.py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世界状态与主循环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986784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094BA"/>
                </a:solidFill>
                <a:latin typeface="Microsoft YaHei"/>
                <a:ea typeface="微软雅黑"/>
                <a:cs typeface="微软雅黑"/>
              </a:rPr>
              <a:t>另有：textures.py 程序化纹理  ·  audio.py 程序化音效  ·  utils.py 数学工具  ·  main.py 启动入口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480560"/>
            <a:ext cx="105156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■ </a:t>
            </a:r>
            <a:r>
              <a:rPr sz="1300" b="1">
                <a:solidFill>
                  <a:srgbClr val="48F0FF"/>
                </a:solidFill>
                <a:latin typeface="Microsoft YaHei"/>
                <a:ea typeface="微软雅黑"/>
                <a:cs typeface="微软雅黑"/>
              </a:rPr>
              <a:t>从零到一：</a:t>
            </a:r>
            <a:r>
              <a:rPr sz="13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不依赖引擎，亲手实现光线投射、程序化生成、音效合成。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47488"/>
            <a:ext cx="105156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4EC8"/>
                </a:solidFill>
                <a:latin typeface="Microsoft YaHei"/>
                <a:ea typeface="微软雅黑"/>
                <a:cs typeface="微软雅黑"/>
              </a:rPr>
              <a:t>■ </a:t>
            </a:r>
            <a:r>
              <a:rPr sz="1300" b="1">
                <a:solidFill>
                  <a:srgbClr val="FF4EC8"/>
                </a:solidFill>
                <a:latin typeface="Microsoft YaHei"/>
                <a:ea typeface="微软雅黑"/>
                <a:cs typeface="微软雅黑"/>
              </a:rPr>
              <a:t>算法落地：</a:t>
            </a:r>
            <a:r>
              <a:rPr sz="13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AABB、BFS、噪声、插值 —— 教科书里的算法真的能用。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614416"/>
            <a:ext cx="105156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A8FF60"/>
                </a:solidFill>
                <a:latin typeface="Microsoft YaHei"/>
                <a:ea typeface="微软雅黑"/>
                <a:cs typeface="微软雅黑"/>
              </a:rPr>
              <a:t>■ </a:t>
            </a:r>
            <a:r>
              <a:rPr sz="1300" b="1">
                <a:solidFill>
                  <a:srgbClr val="A8FF60"/>
                </a:solidFill>
                <a:latin typeface="Microsoft YaHei"/>
                <a:ea typeface="微软雅黑"/>
                <a:cs typeface="微软雅黑"/>
              </a:rPr>
              <a:t>工程组织：</a:t>
            </a:r>
            <a:r>
              <a:rPr sz="1300" b="0">
                <a:solidFill>
                  <a:srgbClr val="ECF8FF"/>
                </a:solidFill>
                <a:latin typeface="Microsoft YaHei"/>
                <a:ea typeface="微软雅黑"/>
                <a:cs typeface="微软雅黑"/>
              </a:rPr>
              <a:t>10 个模块、近 6000 行代码，职责清晰、可独立调参。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99632"/>
            <a:ext cx="107259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48F0FF"/>
                </a:solidFill>
                <a:latin typeface="Consolas"/>
                <a:ea typeface="微软雅黑"/>
                <a:cs typeface="微软雅黑"/>
              </a:rPr>
              <a:t>THANKS FOR WATCHING   ·   Q &amp; A    //    NEON PROTOCOL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